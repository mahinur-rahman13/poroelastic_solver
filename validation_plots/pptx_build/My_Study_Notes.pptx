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400" b="1" i="0">
                <a:solidFill>
                  <a:srgbClr val="CE422B"/>
                </a:solidFill>
                <a:latin typeface="Calibri"/>
              </a:rPr>
              <a:t>MY STUDY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Building a Poroelasticity Solver in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9875520" cy="9144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7CBCF"/>
                </a:solidFill>
                <a:latin typeface="Calibri"/>
              </a:rPr>
              <a:t>Theory, numerical methods, the full workflow, and a block-by-block walkthrough of every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C7CBCF"/>
                </a:solidFill>
                <a:latin typeface="Calibri"/>
              </a:rPr>
              <a:t>file in the project — written so I can explain any part of this to my professor.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736592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100" b="1" i="0">
                <a:solidFill>
                  <a:srgbClr val="CE422B"/>
                </a:solidFill>
                <a:latin typeface="Calibri"/>
              </a:rPr>
              <a:t>Projects covered: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987552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8DBDE"/>
                </a:solidFill>
                <a:latin typeface="Consolas"/>
              </a:rPr>
              <a:t>F:\rust\poroelastic_solver   (the main Rust crate)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8DBDE"/>
                </a:solidFill>
                <a:latin typeface="Consolas"/>
              </a:rPr>
              <a:t>F:\rust\wang2003            (Rung 0 learning project)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8DBDE"/>
                </a:solidFill>
                <a:latin typeface="Consolas"/>
              </a:rPr>
              <a:t>F:\rust\POEL_2024-main      (reference Fortran code, compiled &amp; run, not written by 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  <a:latin typeface="Calibri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BEC3"/>
                </a:solidFill>
                <a:latin typeface="Calibri"/>
              </a:rPr>
              <a:t>What poroelasticity is, the governing equations, the five parameters, and the boundary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What Is Poroelasticity?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698480" cy="44805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600" b="0" i="0">
                <a:solidFill>
                  <a:srgbClr val="1E2124"/>
                </a:solidFill>
                <a:latin typeface="Calibri"/>
              </a:rPr>
              <a:t>Rock underground is not solid — it's a porous skeleton with fluid (water) filling the pore space.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600" b="0" i="0">
                <a:solidFill>
                  <a:srgbClr val="1E2124"/>
                </a:solidFill>
                <a:latin typeface="Calibri"/>
              </a:rPr>
              <a:t>Two things can happen when you inject fluid: (1) pore pressure rises, and (2) the rock skeleton deforms.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600" b="1" i="0">
                <a:solidFill>
                  <a:srgbClr val="1E2124"/>
                </a:solidFill>
                <a:latin typeface="Calibri"/>
              </a:rPr>
              <a:t>The key idea of poroelasticity: these two effects are coupled, not independent.</a:t>
            </a:r>
          </a:p>
          <a:p>
            <a:pPr algn="l" lvl="1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Squeezing the rock (deformation) changes the pore pressure. Raising the pore pressure pushes the rock apart (deformation). You cannot solve one without the other.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600" b="0" i="0">
                <a:solidFill>
                  <a:srgbClr val="1E2124"/>
                </a:solidFill>
                <a:latin typeface="Calibri"/>
              </a:rPr>
              <a:t>This is exactly the physics behind injection-induced earthquakes (the PNAS paper's subject): wastewater injection raises pressure, which reduces the effective stress holding a fault locked, which can trigger slip.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The Governing Equations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691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2704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Zhai et al. (2019) Eqs. 1-2  ==  Wang &amp; Kumpel (2003) Eqs.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19656"/>
            <a:ext cx="10698480" cy="11795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Eq. 1 (momentum balance / quasi-static elasticity):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G*Laplacian(u) + G/(1-2*nu)*grad(div(u)) - alpha*grad(p) = f(x,t)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Eq. 2 (pore-pressure diffusion, coupled to strain rate):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  (1/Q)*dp/dt + alpha*d(div(u))/dt - div(chi*grad(p)) = q(x,t)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u(x,t) — displacement vector (how much the rock moves).  p(x,t) — excess pore pressure.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Eq. 1 says: elastic restoring forces (Laplacian + grad-div terms) balance the pressure gradient's push (alpha*grad(p)).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Eq. 2 says: pressure changes (dp/dt) come from two sources — fluid diffusing in (div(chi*grad p)) and the rock's own volume changing (d(div u)/dt) — the coupling term.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50" b="1" i="0">
                <a:solidFill>
                  <a:srgbClr val="1E2124"/>
                </a:solidFill>
                <a:latin typeface="Calibri"/>
              </a:rPr>
              <a:t>Setting alpha=0 decouples them into ordinary elasticity + ordinary diffusion; the physics of interest is entirely in the alpha terms.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The Five Independent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68580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Symbol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Shear modulus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Stiffness against shape change (Pa)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Drained Poisson ratio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Elastic response when fluid can freely escape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νᵤ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Undrained Poisson ratio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Elastic response when fluid is trapped (νᵤ &gt; ν always)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Skempton coefficient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Pore-pressure rise per unit confining-pressure rise, undrained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Hydraulic diffusivity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12121"/>
                          </a:solidFill>
                          <a:latin typeface="Calibri"/>
                        </a:rPr>
                        <a:t>How fast pressure disturbances spread (m²/s)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Everything else (α, Q, χ, λ) is computed from these five — see the next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Deriving the Coupling Constants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691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2704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Wang &amp; Kumpel (2003), Eqs. 3-6 -- implemented verbatim in src/param.rs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19656"/>
            <a:ext cx="10698480" cy="11795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lambda = 2*nu*G / (1 - 2*nu)                                          (Eq. 3)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alpha  = 3*(nu_u - nu) / [(1-2*nu)*(1+nu_u)*B]                        (Eq. 4)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1/Q    = (9/2)*(1-2*nu_u)*(nu_u-nu) / [(1-2*nu)*(1+nu_u)^2*G*B^2]     (Eq. 5)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chi    = (9/2)*(1-nu_u)*(nu_u-nu)*D / [(1-nu)*(1+nu_u)^2*G*B^2]       (Eq.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lambda — the first Lame parameter; ordinary elasticity, no fluid coupling at all.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alpha (Biot-Willis coefficient) — fraction of a pore-pressure change that shows up as effective stress. Close to 1 means very strong coupling.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Q (Biot modulus) — how much pressure builds up per unit of fluid volume added at constant strain (a stiffness for the fluid+pore system).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1" i="0">
                <a:solidFill>
                  <a:srgbClr val="1E2124"/>
                </a:solidFill>
                <a:latin typeface="Calibri"/>
              </a:rPr>
              <a:t>chi (mobility = permeability / viscosity) — NOT the same as D! D = chi * Q. Units are m^2/(Pa*s), not m^2/s.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Boundary Conditions: Approximating a Half-Space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550" b="1" i="0">
                <a:solidFill>
                  <a:srgbClr val="1E2124"/>
                </a:solidFill>
                <a:latin typeface="Calibri"/>
              </a:rPr>
              <a:t>z = 0 (the ground surface, free surface):</a:t>
            </a:r>
          </a:p>
          <a:p>
            <a:pPr algn="l" lvl="1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Traction-free: sigma_xz = sigma_yz = sigma_zz = 0 (nothing is pushing on the surface from above)</a:t>
            </a:r>
          </a:p>
          <a:p>
            <a:pPr algn="l" lvl="1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Drained: p = 0 (pressure equilibrates instantly with the atmosphere)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550" b="1" i="0">
                <a:solidFill>
                  <a:srgbClr val="1E2124"/>
                </a:solidFill>
                <a:latin typeface="Calibri"/>
              </a:rPr>
              <a:t>All other faces (far-field, the domain's necessary truncation of an infinite half-space):</a:t>
            </a:r>
          </a:p>
          <a:p>
            <a:pPr algn="l" lvl="1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Fixed zero displacement (rock far away doesn't move)</a:t>
            </a:r>
          </a:p>
          <a:p>
            <a:pPr algn="l" lvl="1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450" b="0" i="0">
                <a:solidFill>
                  <a:srgbClr val="1E2124"/>
                </a:solidFill>
                <a:latin typeface="Calibri"/>
              </a:rPr>
              <a:t>No-flow / zero pressure gradient (no fluid crosses the boundary)</a:t>
            </a:r>
          </a:p>
          <a:p>
            <a:pPr algn="l">
              <a:lnSpc>
                <a:spcPct val="120000"/>
              </a:lnSpc>
              <a:spcAft>
                <a:spcPts val="13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Caveat: domain must be much larger than the diffusion length sqrt(D*t) reached during a run, or these truncation boundaries contaminate the answer — this is exactly what we saw happen at late times in the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1 · THEORY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Two Ways to Solve the Same Equations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9E3220"/>
                </a:solidFill>
                <a:latin typeface="Calibri"/>
              </a:rPr>
              <a:t>THE PAPER'S WAY (semi-analytical)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Laplace transform removes time (t -&gt; s)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Hankel transform removes radius (r -&gt; k, wavenumber)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Left with an ODE in depth z only -&gt; solve with Haskell's propagator matrix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Numerically invert both transforms to get back to (r, z, t)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Exact for axisymmetric point sources in layered media; POEL2024 implements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4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9E3220"/>
                </a:solidFill>
                <a:latin typeface="Calibri"/>
              </a:rPr>
              <a:t>OUR WAY (direct numerical)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754880" cy="3657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No transforms at all -- discretize x, y, z, and t directly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Finite differences on a uniform 3D grid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Backward Euler in time (unconditionally stable)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Iterate elasticity &lt;-&gt; diffusion each time step until pressure stops changing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9E3220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Simpler to implement and reason about; costs more compute, needs a large domain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Our Numerical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BEC3"/>
                </a:solidFill>
                <a:latin typeface="Calibri"/>
              </a:rPr>
              <a:t>How the finite-difference discretization, linear solvers, and coupling scheme actually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Overview: Grid, Time,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Grid: a uniform structured 3D grid (Grid3D). Nodes at (i,j,k), physical position (i*dx, j*dy, k*dz). z increases with depth.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Every field (pressure, each displacement component) is a flat Vec&lt;f64&gt; the same length as the grid, indexed via idx(i,j,k) = i + nx*(j + ny*k).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Time stepping: backward Euler -- fully implicit, so any time step size dt is numerically stable (though large dt loses temporal accuracy).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  <a:buClr>
                <a:srgbClr val="CE422B"/>
              </a:buClr>
              <a:buFont typeface="Arial"/>
              <a:buChar char="•"/>
            </a:pPr>
            <a:r>
              <a:rPr sz="1550" b="1" i="0">
                <a:solidFill>
                  <a:srgbClr val="1E2124"/>
                </a:solidFill>
                <a:latin typeface="Calibri"/>
              </a:rPr>
              <a:t>Each time step is NOT a single linear solve: elasticity and diffusion are coupled equations, so we iterate between the two (an 'outer' or 'Picard-type' loop) until they agree.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Discretizing the Elasticity Equation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50" b="0" i="0">
                <a:solidFill>
                  <a:srgbClr val="1E2124"/>
                </a:solidFill>
                <a:latin typeface="Calibri"/>
              </a:rPr>
              <a:t>Expanding G*Laplacian(u) + (lambda+G)*grad(div(u)) for the x-component gives: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92807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Same pattern (cyclically) for Ly, Lz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85415"/>
            <a:ext cx="10698480" cy="4480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Lx = (lambda+2G)*d2ux/dx2 + G*d2ux/dy2 + G*d2ux/dz2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      + (lambda+G)*d2uy/dxdy + (lambda+G)*d2uz/dxdz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1064240" cy="34290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Every second derivative uses standard central differences: d2f/dx2 = (f[i+1] - 2f[i] + f[i-1]) / dx^2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Cross derivatives (like d2uy/dxdy) need a 4-point stencil: (f[i+1,j+1] - f[i+1,j-1] - f[i-1,j+1] + f[i-1,j-1]) / (4*dx*dy)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400" b="1" i="0">
                <a:solidFill>
                  <a:srgbClr val="1E2124"/>
                </a:solidFill>
                <a:latin typeface="Calibri"/>
              </a:rPr>
              <a:t>This couples all three displacement components together at every interior grid point -- that's why elasticity alone is a 3*N unknown linear system (N = number of grid nodes).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The Free-Surface Trick: Ghost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892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The stencil at the surface (k=0) needs a neighbor 'above the surface' (k=-1) that doesn't physically exist.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Solution: invent a 'ghost' value at k=-1, chosen so the traction-free condition is satisfied exactly.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1064240" cy="1691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85292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elasticity.rs :: ghost_ux / ghost_uy / ghost_uz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145536"/>
            <a:ext cx="10698480" cy="11795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// sigma_xz = 0  =&gt;  dux/dz = -duz/dx  =&gt;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ux_ghost(k=-1) = ux(k=1) + 2*dz * duz_dx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// sigma_zz = 0 (and p=0 at surface)  =&gt;  duz/dz = -lambda/(lambda+2G) * (dux_dx+duy_dy)  =&gt;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uz_ghost(k=-1) = uz(k=1) + 2*dz * (lambda/(lambda+2G)) * (dux_dx + duy_dy)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822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At the lateral edges (i=0, i=nx-1, j=0, j=ny-1) the far-field zero-displacement condition takes priority over this formula (returns 0.0) since those columns are pinned anyway.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Discretizing the Diffusion Equation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691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2704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diffusion.rs :: apply_diffusion_operator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19656"/>
            <a:ext cx="10698480" cy="11795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// backward Euler: solve for p at the NEW time step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(1/(Q*dt)) * p_new  -  div(chi * grad(p_new))  =  source  +  (1/(Q*dt)) * p_old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// 7-point Laplacian stencil (interior nodes):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lap = chi * [ (p[i+1]-2p[i]+p[i-1])/dx^2 + (...)/dy^2 + (...)/dz^2 ]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64240" cy="3017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z=0 (drained surface): p is fixed at 0 -- not solved for, just held constant.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All other boundaries: no-flow -- implemented by mirroring the neighbor across the boundary node (ghost = value one node further in), giving zero gradient there.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  <a:buClr>
                <a:srgbClr val="CE422B"/>
              </a:buClr>
              <a:buFont typeface="Arial"/>
              <a:buChar char="•"/>
            </a:pPr>
            <a:r>
              <a:rPr sz="1400" b="1" i="0">
                <a:solidFill>
                  <a:srgbClr val="1E2124"/>
                </a:solidFill>
                <a:latin typeface="Calibri"/>
              </a:rPr>
              <a:t>This backward-Euler operator is symmetric positive-definite, which is exactly what conjugate gradient needs.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Two Different Linear Solvers, On Purpose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600" b="1" i="0">
                <a:solidFill>
                  <a:srgbClr val="1E2124"/>
                </a:solidFill>
                <a:latin typeface="Cambria"/>
              </a:rPr>
              <a:t>Conjugate Gradient (CG)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75488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Used for: the diffusion equation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Requires: the operator to be symmetric positive-definite (SPD)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Why it qualifies: the 7-point stencil + Dirichlet/Neumann boundary treatment is provably symmetric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9164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600" b="1" i="0">
                <a:solidFill>
                  <a:srgbClr val="1E2124"/>
                </a:solidFill>
                <a:latin typeface="Cambria"/>
              </a:rPr>
              <a:t>BiCGSTAB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475488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Used for: the elasticity equation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Requires: nothing in particular -- works for general (non-symmetric) operators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Why it's needed here: the free-surface ghost-node formulas are NOT guaranteed to keep the discrete operator exactly matrix-symmetric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/>
            <a:r>
              <a:rPr sz="1250" b="0" i="1">
                <a:solidFill>
                  <a:srgbClr val="6B7280"/>
                </a:solidFill>
                <a:latin typeface="Calibri"/>
              </a:rPr>
              <a:t>Both are matrix-free: the operator is applied as a stencil function, never assembled into an explicit matrix.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Coupling, Attempt 1: Plain Iteration (Picard)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4892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Idea: guess a pressure field, solve elasticity for displacement, recompute the strain-rate source this implies, resolve pressure, repeat until pressure stops changing.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This worked for moderate coupling (e.g. alpha=0.385, ~10 iterations to converge).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64240" cy="2651760"/>
          </a:xfrm>
          <a:prstGeom prst="roundRect">
            <a:avLst>
              <a:gd name="adj" fmla="val 6000"/>
            </a:avLst>
          </a:prstGeom>
          <a:solidFill>
            <a:srgbClr val="2E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00" b="1" i="0">
                <a:solidFill>
                  <a:srgbClr val="F0A183"/>
                </a:solidFill>
                <a:latin typeface="Calibri"/>
              </a:rPr>
              <a:t>WHAT WENT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E8785C"/>
              </a:buClr>
              <a:buFont typeface="Arial"/>
              <a:buChar char="•"/>
            </a:pPr>
            <a:r>
              <a:rPr sz="1350" b="0" i="0">
                <a:solidFill>
                  <a:srgbClr val="F2D9D2"/>
                </a:solidFill>
                <a:latin typeface="Calibri"/>
              </a:rPr>
              <a:t>For Wang &amp; Kumpel's own parameters (alpha=0.95, very soft/strongly-coupled rock), this iteration diverged: pressure went from -1e4 Pa to -7.7e5 Pa in a single additional step.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E8785C"/>
              </a:buClr>
              <a:buFont typeface="Arial"/>
              <a:buChar char="•"/>
            </a:pPr>
            <a:r>
              <a:rPr sz="1350" b="0" i="0">
                <a:solidFill>
                  <a:srgbClr val="F2D9D2"/>
                </a:solidFill>
                <a:latin typeface="Calibri"/>
              </a:rPr>
              <a:t>Not slow convergence -- genuine numerical instability. This is a well-known failure mode for naive iterative coupling of Biot's equations at high alpha.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2 · NUMERICAL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Coupling, Attempt 2: Fixed-Stress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E2124"/>
                </a:solidFill>
                <a:latin typeface="Calibri"/>
              </a:rPr>
              <a:t>The fix (Kim, Tchelepi &amp; Juanes 2011; Mikelic &amp; Wheeler 2013): hold TOTAL stress fixed during the pressure solve, using K_dr*epsilon_v = sigma_v + alpha*p to predict how strain must shift: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064240" cy="16916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5856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050" b="1" i="0">
                <a:solidFill>
                  <a:srgbClr val="CE422B"/>
                </a:solidFill>
                <a:latin typeface="Consolas"/>
              </a:rPr>
              <a:t>coupling.rs :: step()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51176"/>
            <a:ext cx="10698480" cy="11795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beta = alpha^2 / K_dr                     // stabilization coefficient, K_dr = drained bulk modulus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// modified flow step (solved FIRST each iteration):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(1/Q + beta)/dt * p_new - div(chi*grad(p_new))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= source + beta/dt * p_prev_iter + (1/Q)/dt * p_start_of_step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23317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Order flips: solve flow first (with the extra beta term), THEN mechanics with the updated pressure.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50" b="1" i="0">
                <a:solidFill>
                  <a:srgbClr val="1E2124"/>
                </a:solidFill>
                <a:latin typeface="Calibri"/>
              </a:rPr>
              <a:t>Provably unconditionally stable regardless of coupling strength -- exactly what was missing.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Result: the same alpha=0.95 case that diverged now runs cleanly and matches POEL2024 to 0.2-2.5% at early times.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BEC3"/>
                </a:solidFill>
                <a:latin typeface="Calibri"/>
              </a:rPr>
              <a:t>What we actually did, in order -- useful for retracing any step or explaining the process.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1 — Parameter Conversion (Rung 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F:\rust\wang2003\src\main.rs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Before writing any solver, hand-derived lambda, alpha, 1/Q, chi for Wang &amp; Kumpel's worked example and checked them against the code's output.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Built this as a tiny standalone learning project (wang2003) using plain variables first, no structs -- the simplest possible Rust.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Every number matched the hand calculation exactly: lambda=2.667e8 Pa, alpha=0.952, Q=1.47e9 Pa, chi=1.531e-9 m^2/(Pa*s).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This 'verification ladder' idea (simplest case first, add complexity only after each step is trusted) shaped the entire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2 — Core Solver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F:\rust\poroelastic_solver\src\{grid,field,param}.rs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0233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Grid3D: a uniform 3D grid with node indexing, defined once, reused everywhere.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Field3D / VectorField3D: scalar and vector data living on that grid, stored as flat arrays for speed.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PoroLayer: the 5-parameter to lambda/alpha/Q/chi conversion, carried over from the Rung 0 project.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Design choice: keep the crate dependency-free (pure Rust std library) so it builds anywhere without fighting BLAS/LAPACK installs.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3 — Elasticity Solver + First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F:\rust\poroelastic_solver\src\elasticity.rs, tests\elasticity_mms.rs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Wrote the Navier-Cauchy finite-difference stencil, the free-surface ghost-node formulas, and a BiCGSTAB solver.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Validation: Method of Manufactured Solutions (MMS) -- plug a known quadratic displacement field into the stencil and check it reproduces the exact analytic answer.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Why quadratics: central differences are exact (to machine precision) for degree &lt;= 2 polynomials, so this isolates stencil bugs from boundary-condition bugs.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Result: passed to within 1e-8 relative error on the first correct attempt.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4 — Diffusion Solver + Second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F:\rust\poroelastic_solver\src\diffusion.rs, tests\diffusion_point_source.rs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Wrote the backward-Euler pressure diffusion stencil and a conjugate-gradient solver.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Validation: compared against the classical closed-form solution for a continuous point source in an infinite medium (Carslaw &amp; Jaeger).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First attempt used too short a test duration -- compared at a point so far past the diffusion front that the analytical curve's steep tail amplified small errors into a false failure.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Fix: ran longer (t=1200s) so the comparison point sat in a numerically well-behaved part of the curve. Result: 0.2-2.5% error.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5 — Coupling + a Working End-to-End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F:\rust\poroelastic_solver\src\coupling.rs, source.rs, main.rs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840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Wrote InjectionWell (Gaussian-smoothed point source) and the first coupling loop (plain Picard iteration).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main.rs runs a 60-day constant-rate injection into a homogeneous half-space with moderate crustal parameters (alpha=0.385) -- converges cleanly in ~10 iterations/step.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This became the first fully working demonstration: pore pressure builds up at the well, the ground surface lifts a fraction of a millimeter -- physically sensible end to end.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6 — Bringing In POEL2024 As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F:\rust\POEL_2024-main  (Fortran, not written by 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297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POEL2024 is Rongjiang Wang's own reference implementation of the Wang &amp; Kumpel (2003) method.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Bug 1: the prebuilt .exe needed MinGW runtime DLLs that weren't installed. Fixed by installing gfortran (via MSYS2 pacman) and compiling from source.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550" b="0" i="0">
                <a:solidFill>
                  <a:srgbClr val="1E2124"/>
                </a:solidFill>
                <a:latin typeface="Calibri"/>
              </a:rPr>
              <a:t>Bug 2: an idealized near-point source (tiny radius) pushed the Hankel-transform wavenumber integration to its array-size cap and segfaulted. Fixed by widening the source to a more realistic (still small) size.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  <a:buClr>
                <a:srgbClr val="CE422B"/>
              </a:buClr>
              <a:buFont typeface="Arial"/>
              <a:buChar char="•"/>
            </a:pPr>
            <a:r>
              <a:rPr sz="1550" b="1" i="0">
                <a:solidFill>
                  <a:srgbClr val="1E2124"/>
                </a:solidFill>
                <a:latin typeface="Calibri"/>
              </a:rPr>
              <a:t>Bug 3: a source that jumped straight to full rate on its first time sample had no frequency content for the transform machinery to resolve, giving all-zero output. Fixed by giving it an explicit onset at t=1s.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7 — Discovering the Picard Divergence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F:\rust\poroelastic_solver\examples\wk2003_comparison.rs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3840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Configured our own Rust solver with Wang &amp; Kumpel's exact test-case parameters (the same ones driving POEL2024) to compare directly.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Pressure diverged: -1.07e4 Pa at t=100s, then -7.77e5 Pa at t=200s -- a ~70x jump in one step.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Diagnosis: not a bug in the stencils (those were already validated) -- the plain Picard coupling iteration is known to be unstable for strongly-coupled media (alpha=0.95, close to the theoretical maximum of 1).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3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Step 8 — Fixed-Stress Split, Final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F:\rust\poroelastic_solver\src\diffusion.rs, coupling.rs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40233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Implemented the fixed-stress split (see Part 2) -- flow solved first each iteration, with the beta=alpha^2/K_dr stabilization term.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0" i="0">
                <a:solidFill>
                  <a:srgbClr val="1E2124"/>
                </a:solidFill>
                <a:latin typeface="Calibri"/>
              </a:rPr>
              <a:t>Regression check: moderate-coupling case (main.rs) produced byte-identical output to before -- confirms nothing broke.</a:t>
            </a:r>
          </a:p>
          <a:p>
            <a:pPr algn="l">
              <a:lnSpc>
                <a:spcPct val="125000"/>
              </a:lnSpc>
              <a:spcAft>
                <a:spcPts val="2000"/>
              </a:spcAft>
              <a:buClr>
                <a:srgbClr val="CE422B"/>
              </a:buClr>
              <a:buFont typeface="Arial"/>
              <a:buChar char="•"/>
            </a:pPr>
            <a:r>
              <a:rPr sz="1700" b="1" i="0">
                <a:solidFill>
                  <a:srgbClr val="1E2124"/>
                </a:solidFill>
                <a:latin typeface="Calibri"/>
              </a:rPr>
              <a:t>The strongly-coupled case now runs cleanly through all 80 steps, matching POEL2024 to 0.2-2.5% at early time (later drift traced to finite-domain boundary effects, not the coupling scheme).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  <a:latin typeface="Calibri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BEC3"/>
                </a:solidFill>
                <a:latin typeface="Calibri"/>
              </a:rPr>
              <a:t>Every source file, block by block: what it does, where it lives, and how it works.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Project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5029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27048"/>
            <a:ext cx="10698480" cy="4809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F:\rust\poroelastic_solver\          &lt;- the main crate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Cargo.toml                          package manifest, zero dependencies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src\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lib.rs                            crate root, re-exports public API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grid.rs          Grid3D           the structured 3D grid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field.rs         Field3D/VectorField3D   data living on the grid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param.rs         PoroLayer        the 5-parameter -&gt; alpha/Q/chi conversion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linalg.rs        conjugate_gradient, bicgstab   matrix-free linear solvers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elasticity.rs    apply_elastic_operator, solve_elasticity, divergence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diffusion.rs     apply_diffusion_operator, solve_diffusion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coupling.rs      SimState, step()   the fixed-stress split time loop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source.rs        InjectionWell      Gaussian-smoothed point source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main.rs                            example: 60-day injection demo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tests\             elasticity_mms.rs, diffusion_point_source.rs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examples\          plot_diffusion_validation.rs, wk2003_comparison.rs, rung0_param_check.rs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F:\rust\wang2003\          &lt;- Rung 0 learning project (plain-variable version)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F:\rust\POEL_2024-main\   &lt;- reference Fortran code (Wang's own, compiled &amp; run only)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lib.rs — Crate Root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F:\rust\poroelastic_solver\src\lib.rs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1579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mod coupling;  pub mod diffusion;  pub mod elasticity;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mod field;     pub mod grid;       pub mod linalg;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mod param;     pub mod source;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use coupling::{SimState, SolverTolerances, StepReport};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use field::{Field3D, VectorField3D};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use grid::Grid3D;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use param::PoroLayer;</a:t>
            </a:r>
          </a:p>
          <a:p>
            <a:pPr>
              <a:lnSpc>
                <a:spcPct val="100000"/>
              </a:lnSpc>
            </a:pPr>
            <a:r>
              <a:rPr sz="1400">
                <a:solidFill>
                  <a:srgbClr val="D4D4D4"/>
                </a:solidFill>
                <a:latin typeface="Consolas"/>
              </a:rPr>
              <a:t>pub use source::InjectionWell;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1064240" cy="21945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Declares every module (pub mod) so the compiler includes them in the crate.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Re-exports (pub use) the main types so callers can write poroelastic_solver::SimState instead of poroelastic_solver::coupling::SimState.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The doc comment at the top of the file states the governing equations -- the crate's 'why' in one place.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grid.rs + field.rs — Grid and Data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F:\rust\poroelastic_solver\src\grid.rs  and  src\field.rs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0665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struct Grid3D { pub nx: usize, ny: usize, nz: usize, dx: f64, dy: f64, dz: f64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impl Grid3D {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idx(&amp;self, i,j,k) -&gt; usize { i + self.nx*(j + self.ny*k) }  // x-fastest flat index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coords(&amp;self, i,j,k) -&gt; (f64,f64,f64) { (i as f64*dx, j as f64*dy, k as f64*dz)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struct Field3D { pub data: Vec&lt;f64&gt; }              // one scalar per grid node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struct VectorField3D { pub ux: Field3D, uy: Field3D, uz: Field3D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23774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idx(i,j,k) maps 3D node coordinates to a position in a flat Vec&lt;f64&gt; -- x varies fastest, matching how the data is laid out in memory (cache-friendly for the i-loops).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VectorField3D::to_flat()/from_flat() pack the 3 displacement components into one long vector [ux|uy|uz] so the generic linear solvers (which only know about flat Vec&lt;f64&gt;) can be reused for both scalar (pressure) and vector (displacement) unknowns.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param.rs — The 5-Parameter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F:\rust\poroelastic_solver\src\param.rs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1031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188366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struct PoroLayer { pub g: f64, nu: f64, nu_u: f64, b: f64, d: f64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impl PoroLayer {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lambda(&amp;self) -&gt; f64 { 2.0*self.nu*self.g / (1.0-2.0*self.nu)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alpha(&amp;self)  -&gt; f64 { 3.0*(nu_u-nu) / ((1.0-2.0*nu)*(1.0+nu_u)*b)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inv_q(&amp;self)  -&gt; f64 { /* Eq. 5 */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chi(&amp;self)    -&gt; f64 { /* Eq. 6, uses d */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pub fn k_dr(&amp;self)   -&gt; f64 { self.lambda() + 2.0*self.g/3.0 }  // drained bulk modulus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Every method is a direct, one-line translation of a Wang &amp; Kumpel (2003) equation number (comments cite them).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1" i="0">
                <a:solidFill>
                  <a:srgbClr val="1E2124"/>
                </a:solidFill>
                <a:latin typeface="Calibri"/>
              </a:rPr>
              <a:t>k_dr() was added later specifically to support the fixed-stress split's beta = alpha^2/K_dr stabilization term.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400" b="0" i="0">
                <a:solidFill>
                  <a:srgbClr val="1E2124"/>
                </a:solidFill>
                <a:latin typeface="Calibri"/>
              </a:rPr>
              <a:t>This is literally the same code as Rung 0 (wang2003/src/main.rs), just wrapped in a struct so multiple layers/scenarios can each carry their own set of parameters.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linalg.rs — Matrix-Free Linear Solvers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F:\rust\poroelastic_solver\src\linalg.rs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17007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pub fn conjugate_gradient&lt;F: Fn(&amp;[f64])-&gt;Vec&lt;f64&gt;&gt;(apply_a: F, b: &amp;[f64], x0: Vec&lt;f64&gt;, ...)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-&gt; (Vec&lt;f64&gt;, usize) {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// standard CG: r = b - A*x; p = r; loop { alpha = rs/(p.Ap); x += alpha*p; ... }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pub fn bicgstab&lt;F: Fn(&amp;[f64])-&gt;Vec&lt;f64&gt;&gt;(apply_a: F, b: &amp;[f64], x0: Vec&lt;f64&gt;, ...)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-&gt; (Vec&lt;f64&gt;, usize) { /* stabilized bi-conjugate gradients */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'Matrix-free' means apply_a is a closure that computes A*x directly via the stencil -- the matrix A is never assembled or stored, which is essential since A would be enormous (3N x 3N for elasticity, N = number of grid nodes).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CG requires the operator to be symmetric positive-definite; it is used only for the diffusion equation, where that's provably true.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BiCGSTAB tolerates non-symmetric operators; it is used for elasticity, where the free-surface ghost-node stencil isn't guaranteed to stay exactly symmetric.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elasticity.rs (1/2) — Ghost Nodes &amp; Boundary Masks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F:\rust\poroelastic_solver\src\elasticity.rs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4231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2037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fn is_fixed(grid, i, j, k) -&gt; bool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i==0 || i==nx-1 || j==0 || j==ny-1 || k==nz-1   // far-field: pinned to zero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fn ghost_uz(ux, uy, uz, grid, lambda, g, i, j) -&gt; f64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if edge_of_domain { return 0.0; }               // lateral edges: fixed wins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let dux_dx = /* central diff at k=0 */;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let duy_dy = /* central diff at k=0 */;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uz(i,j,1) + 2.0*dz*(lambda/(lambda+2.0*g))*(dux_dx + duy_dy)   // Eq. from Part 2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is_fixed marks the far-field boundary nodes (sides + bottom) whose displacement is pinned to zero.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ghost_ux / ghost_uy / ghost_uz compute the 'value above the surface' needed by the k=0 stencil, from the traction-free relations derived in Part 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elasticity.rs (2/2) — The Stencil, Solve, Divergence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F:\rust\poroelastic_solver\src\elasticity.rs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4231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2037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apply_elastic_operator(u_flat, grid, g, lambda) -&gt; Vec&lt;f64&gt;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for each node (i,j,k):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if is_fixed(i,j,k) { output = input; continue }   // identity row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compute 9 second derivatives + 6 cross derivatives (ghosts at k=0)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Lx = (lambda+2G)*d2ux_dx2 + G*d2ux_dy2 + ... + (lambda+G)*d2uz_dxdz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(Ly, Lz analogous)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solve_elasticity(rhs, grid, g, lambda, x0, tol, max_iter) -&gt; (VectorField3D, usize)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divergence(u, grid, lambda, g) -&gt; Field3D    // needed as a source for pressure eqn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11064240" cy="2148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apply_elastic_operator IS the matrix A from 'A*x=b', applied one grid node at a time -- this is what bicgstab calls every iteration.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  <a:buClr>
                <a:srgbClr val="CE422B"/>
              </a:buClr>
              <a:buFont typeface="Arial"/>
              <a:buChar char="•"/>
            </a:pPr>
            <a:r>
              <a:rPr sz="1300" b="0" i="0">
                <a:solidFill>
                  <a:srgbClr val="1E2124"/>
                </a:solidFill>
                <a:latin typeface="Calibri"/>
              </a:rPr>
              <a:t>divergence() reuses the exact same free-surface ghost formula so the mechanics and the pressure-equation source term stay numerically consistent.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diffusion.rs — Pressure Solve, With Stabilization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F:\rust\poroelastic_solver\src\diffusion.rs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6060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3865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apply_diffusion_operator(p, grid, chi, coeff) -&gt; Vec&lt;f64&gt;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for each node: if k==0 { output = p (Dirichlet) 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else { output = coeff*p - chi*Laplacian(p) }   // 7-point stencil, Neumann elsewhere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solve_diffusion(p_n, p_iter, beta, source, grid, chi, inv_q, dt, ...) -&gt; (Field3D, usize)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coeff = (inv_q + beta) / dt;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b[idx] = source + (inv_q/dt)*p_n[idx] + (beta/dt)*p_iter[idx];   // fixed-stress RHS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conjugate_gradient(|v| apply_diffusion_operator(v, ...), &amp;b, ...)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64240" cy="19659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beta=0.0 and p_iter=p_n recovers the plain (unstabilized) equation -- the fixed-stress version is a strict generalization, not a rewrite.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coupling.rs (1/2) — State and the Pressure-Gradient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F:\rust\poroelastic_solver\src\coupling.rs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19659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17465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pub struct SimState { pub u: VectorField3D, pub p: Field3D }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pub struct SolverTolerances { picard_tol, picard_max_iter, cg_tol, cg_max_iter }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fn alpha_grad_p(p, grid, alpha) -&gt; VectorField3D {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// alpha*grad(p), the RHS source for the elasticity solve;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    // dp/dz at k=0 uses the odd-reflection ghost p(-1) = -p(1), since p=0 there exactly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064240" cy="2651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SimState bundles the two coupled unknowns (displacement, pressure) that get updated together every time step.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alpha_grad_p turns the pressure field into the vector 'body force' that drives the elasticity solve -- it's the alpha*grad(p) term on the right-hand side of Eq. 1.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coupling.rs (2/2) — The Fixed-Stress Time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F:\rust\poroelastic_solver\src\coupling.rs :: step()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6060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3865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pub fn step(state, grid, params, q_field, dt, tol) -&gt; StepReport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let beta = alpha*alpha / params.k_dr();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for it in 0..max_iter {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source = q - alpha*(div_u_iter - div_u_n)/dt;             // flow step first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p_new  = solve_diffusion(p_n, p_iter, beta, source, ...);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rhs    = alpha_grad_p(p_new, ...);                        // then mechanics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u_new  = solve_elasticity(rhs, ..., u_current, ...);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    if |p_new - p_iter| &lt; tol { break 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This IS the fixed-stress split algorithm from Part 2, translated line for line into code.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source.rs — The Injection Well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F:\rust\poroelastic_solver\src\source.rs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17922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struct InjectionWell { x0, y0, z0, sigma, schedule: Vec&lt;(f64,f64)&gt; }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pub fn source_field(&amp;self, grid, t) -&gt; Field3D {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let rate = self.rate_at(t);                     // look up schedule for this time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// w(x) = exp(-r^2 / (2*sigma^2)) / normalization   -- a 3D Gaussian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// renormalize numerically so sum(w)*cell_volume == 1, then scale by rate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064240" cy="2651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A true mathematical point source (Dirac delta) can't be represented on a finite grid -- it would need infinite pressure in a single cell.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Solution: smear the injection over a small Gaussian blob (sigma ~ 1-2 grid cells) that still integrates to exactly the correct total volume.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  <a:buClr>
                <a:srgbClr val="CE422B"/>
              </a:buClr>
              <a:buFont typeface="Arial"/>
              <a:buChar char="•"/>
            </a:pPr>
            <a:r>
              <a:rPr sz="1350" b="0" i="0">
                <a:solidFill>
                  <a:srgbClr val="1E2124"/>
                </a:solidFill>
                <a:latin typeface="Calibri"/>
              </a:rPr>
              <a:t>schedule is a list of (time, rate) pairs -- supports step changes, shut-ins, or any piecewise-constant history.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main.rs — The Example Driver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F:\rust\poroelastic_solver\src\main.rs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743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523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params = PoroLayer { g: 2.0e10, nu: 0.25, nu_u: 0.30, b: 0.6, d: 1.5 };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grid = Grid3D::new(41, 41, 41, 150.0, 150.0, 150.0);       // 6 km cube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well = InjectionWell { x0:3000.0, y0:3000.0, z0:3000.0, sigma:1.5*dx,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                       schedule: vec![(0.0, 0.005)] };    // 0.005 m^3/s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for step_i in 0..60 {                                         // 60 daily steps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let report = step(&amp;mut state, &amp;grid, &amp;params, &amp;q_field, dt, &amp;tol);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// write CSV row: pressure at well, uplift at surface, picard_iters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write_vtk("final_field.vtk", &amp;grid, &amp;state)   // full 3D field, open in ParaView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350" b="0" i="1">
                <a:solidFill>
                  <a:srgbClr val="6B7280"/>
                </a:solidFill>
                <a:latin typeface="Calibri"/>
              </a:rPr>
              <a:t>Run with: cargo run --release  -&gt;  writes injection_timeseries.csv and final_field.vtk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tests/ — The Two Automated Checks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F:\rust\poroelastic_solver\tests\elasticity_mms.rs, diffusion_point_source.rs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0665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// elasticity_mms.rs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let u = quadratic_polynomial(x,y,z);   // e.g. ux = x^2 + 2xy + 3xz, ...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assert!( (apply_elastic_operator(u,...) - analytic_value).abs() &lt; 1e-8 );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// diffusion_point_source.rs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let p_num = solve_diffusion(...)  /* 40 backward-Euler steps */;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let p_ana = analytical_carslaw_jaeger_formula(r, t);</a:t>
            </a:r>
          </a:p>
          <a:p>
            <a:pPr>
              <a:lnSpc>
                <a:spcPct val="100000"/>
              </a:lnSpc>
            </a:pPr>
            <a:r>
              <a:rPr sz="1250">
                <a:solidFill>
                  <a:srgbClr val="D4D4D4"/>
                </a:solidFill>
                <a:latin typeface="Consolas"/>
              </a:rPr>
              <a:t>assert!( (p_num - p_ana).abs() / p_ana &lt; 0.2 );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Run with: cargo test --release   (both currently pass)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4 · CODE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examples/wk2003_comparison.rs — The Cross-Check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70432"/>
            <a:ext cx="6035040" cy="310896"/>
          </a:xfrm>
          <a:prstGeom prst="roundRect">
            <a:avLst>
              <a:gd name="adj" fmla="val 6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5760720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/>
            <a:r>
              <a:rPr sz="1200" b="0" i="0">
                <a:solidFill>
                  <a:srgbClr val="3A3F44"/>
                </a:solidFill>
                <a:latin typeface="Consolas"/>
              </a:rPr>
              <a:t>📁  F:\rust\poroelastic_solver\examples\wk2003_comparison.rs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64207"/>
            <a:ext cx="10698480" cy="20665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params = PoroLayer { g: 0.4e9, nu: 0.2, nu_u: 0.4, b: 0.75, d: 1.0 };  // W&amp;K's own numbers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grid = Grid3D::new(49, 49, 43, 5.0, 5.0, 5.0);                        // 240m x 240m x 215m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let well = InjectionWell { x0:120.0, y0:120.0, z0:60.0, ..., schedule: vec![(0.0, 32.0/3600.0)] };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for step_i in 0..80 {                                                     // dt=100s, 8000s total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step(&amp;mut state, &amp;grid, &amp;params, &amp;q_field, dt, &amp;tol);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// write p at r=40m for z = 5, 15, 45, 75 m -&gt; rust_solver_wk2003.csv</a:t>
            </a:r>
          </a:p>
          <a:p>
            <a:pPr>
              <a:lnSpc>
                <a:spcPct val="10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B7280"/>
                </a:solidFill>
                <a:latin typeface="Calibri"/>
              </a:rPr>
              <a:t>Run with: cargo run --release --example wk2003_comparison</a:t>
            </a:r>
          </a:p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6B7280"/>
                </a:solidFill>
                <a:latin typeface="Calibri"/>
              </a:rPr>
              <a:t>Output was compared against POEL2024's wk2003_pp.dat -- this produced the headline validation result.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500" b="1" i="0">
                <a:solidFill>
                  <a:srgbClr val="CE422B"/>
                </a:solidFill>
                <a:latin typeface="Calibri"/>
              </a:rP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058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Results &amp; Talking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960120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BEC3"/>
                </a:solidFill>
                <a:latin typeface="Calibri"/>
              </a:rPr>
              <a:t>The final numbers, how to explain them simply, and where to find everything.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Final Validation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75488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solidFill>
                      <a:srgbClr val="3A3F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MMS test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Elasticity stencil math is exact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&lt; 1e-8 relative error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Analytical diffusion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Diffusion module matches theory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0.2-2.5% error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POEL reproduction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We can reproduce the paper's own 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Matches Fig. 2 shape + Noordbergum effect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Rust vs. POEL (fixed-stress)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Our full coupled code is correct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12121"/>
                          </a:solidFill>
                          <a:latin typeface="Calibri"/>
                        </a:rPr>
                        <a:t>0.2-2.5% (early time), 11-17% (late, explained)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6B7280"/>
                </a:solidFill>
                <a:latin typeface="Calibri"/>
              </a:rPr>
              <a:t>Every number above is reproducible: re-run cargo test, cargo run --example wk2003_comparison, and the plotting scripts in poroelastic_solver/validation_plots.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Explaining the Fixed-Stress Split Simply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 i="0">
                <a:solidFill>
                  <a:srgbClr val="1E2124"/>
                </a:solidFill>
                <a:latin typeface="Calibri"/>
              </a:rPr>
              <a:t>If your professor asks "why did you need this fix?":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"Solving pressure and deformation by just alternating between them works fine most of the time -- </a:t>
            </a:r>
            <a:r>
              <a:rPr sz="1500" b="0" i="0">
                <a:solidFill>
                  <a:srgbClr val="1E2124"/>
                </a:solidFill>
                <a:latin typeface="Calibri"/>
              </a:rPr>
              <a:t>but for very soft, strongly-coupled rock, that back-and-forth can amplify errors instead of shrinking them."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"The fix holds the </a:t>
            </a:r>
            <a:r>
              <a:rPr sz="1500" b="1" i="0">
                <a:solidFill>
                  <a:srgbClr val="9E3220"/>
                </a:solidFill>
                <a:latin typeface="Calibri"/>
              </a:rPr>
              <a:t>total stress</a:t>
            </a:r>
            <a:r>
              <a:rPr sz="1500" b="0" i="0">
                <a:solidFill>
                  <a:srgbClr val="1E2124"/>
                </a:solidFill>
                <a:latin typeface="Calibri"/>
              </a:rPr>
              <a:t> fixed while solving for pressure, which is a mathematically provable way to guarantee the iteration always converges, no matter how strong the coupling."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"I found this the hard way: my code diverged on the paper's own worked example, traced it to the coupling scheme (not the physics), and fixed it with a well-known technique from the poromechanics literature (Kim, Tchelepi &amp; Juanes 2011)."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Known 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4800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5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Single homogeneous layer, not the paper's layered Earth model -- would need a fundamentally different (layered propagator) numerical method, or a much more complex FD grid with per-layer properties.</a:t>
            </a:r>
          </a:p>
          <a:p>
            <a:pPr algn="l">
              <a:lnSpc>
                <a:spcPct val="120000"/>
              </a:lnSpc>
              <a:spcAft>
                <a:spcPts val="15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Finite domain approximates an infinite half-space -- must stay large relative to sqrt(D*t_max); the late-time drift in the validation traces directly to this.</a:t>
            </a:r>
          </a:p>
          <a:p>
            <a:pPr algn="l">
              <a:lnSpc>
                <a:spcPct val="120000"/>
              </a:lnSpc>
              <a:spcAft>
                <a:spcPts val="15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No Coulomb-stress or seismicity-rate modeling (Eq. 3 of the PNAS paper) -- this project solves only the poroelastic PDE system, not the earthquake-nucleation model built on top of it.</a:t>
            </a:r>
          </a:p>
          <a:p>
            <a:pPr algn="l">
              <a:lnSpc>
                <a:spcPct val="120000"/>
              </a:lnSpc>
              <a:spcAft>
                <a:spcPts val="1500"/>
              </a:spcAft>
              <a:buClr>
                <a:srgbClr val="CE422B"/>
              </a:buClr>
              <a:buFont typeface="Arial"/>
              <a:buChar char="•"/>
            </a:pPr>
            <a:r>
              <a:rPr sz="1500" b="0" i="0">
                <a:solidFill>
                  <a:srgbClr val="1E2124"/>
                </a:solidFill>
                <a:latin typeface="Calibri"/>
              </a:rPr>
              <a:t>Possible next step: implement a proper Laplace-Hankel-propagator solver (like POEL) for direct, non-approximate comparison to layered/axisymmetric cases.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1200" b="1" i="0">
                <a:solidFill>
                  <a:srgbClr val="CE422B"/>
                </a:solidFill>
                <a:latin typeface="Calibri"/>
              </a:rPr>
              <a:t>PART 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/>
            <a:r>
              <a:rPr sz="2500" b="1" i="0">
                <a:solidFill>
                  <a:srgbClr val="1E2124"/>
                </a:solidFill>
                <a:latin typeface="Cambria"/>
              </a:rPr>
              <a:t>Quick Reference: Where Everything Lives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42062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  <a:effectLst>
            <a:outerShdw blurRad="1016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664207"/>
            <a:ext cx="10698480" cy="398678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Main crate:        F:\rust\poroelastic_solver\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Rung 0 project:    F:\rust\wang2003\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Reference code:    F:\rust\POEL_2024-main\  (compiled with gfortran via MSYS2)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Plots &amp; report:    F:\rust\poroelastic_solver\validation_plots\  (VALIDATION_SUMMARY.md)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PNAS paper:            C:\Users\Asus\Downloads\PNAS_2019.pdf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Wang &amp; Kumpel (2003):  C:\Users\Asus\Downloads\wang2003.pdf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Build &amp; test:  cargo build --release   |   cargo test --release</a:t>
            </a:r>
          </a:p>
          <a:p>
            <a:pPr>
              <a:lnSpc>
                <a:spcPct val="100000"/>
              </a:lnSpc>
            </a:pPr>
            <a:r>
              <a:rPr sz="1350">
                <a:solidFill>
                  <a:srgbClr val="D4D4D4"/>
                </a:solidFill>
                <a:latin typeface="Consolas"/>
              </a:rPr>
              <a:t>Run demo:      cargo run --release     (writes injection_timeseries.csv, final_field.vtk)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
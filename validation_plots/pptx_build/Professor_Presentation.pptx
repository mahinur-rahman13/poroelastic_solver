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23444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500" b="1" i="0">
                <a:solidFill>
                  <a:srgbClr val="7FB3D5"/>
                </a:solidFill>
                <a:latin typeface="Calibri"/>
              </a:rPr>
              <a:t>VALIDATING A NUMERICAL POROELASTICITY SOLVER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11887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Solving the Coupled Biot Equations in 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88920"/>
            <a:ext cx="9875520" cy="91440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C7D6E3"/>
                </a:solidFill>
                <a:latin typeface="Calibri"/>
              </a:rPr>
              <a:t>A finite-difference implementation of the momentum + pore-pressure diffusion system,</a:t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C7D6E3"/>
                </a:solidFill>
                <a:latin typeface="Calibri"/>
              </a:rPr>
              <a:t>verified against Wang &amp; Kümpel (2003) and the PNAS induced-seismicity model of Zhai et al. (2019)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977639"/>
            <a:ext cx="7589520" cy="1051560"/>
          </a:xfrm>
          <a:prstGeom prst="roundRect">
            <a:avLst>
              <a:gd name="adj" fmla="val 6000"/>
            </a:avLst>
          </a:prstGeom>
          <a:solidFill>
            <a:srgbClr val="12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4133087"/>
            <a:ext cx="7315200" cy="10058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E8EEF3"/>
                </a:solidFill>
                <a:latin typeface="Consolas"/>
              </a:rPr>
              <a:t>G∇²u + G/(1-2ν)∇(∇·u) − α∇p = f(x,t)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E8EEF3"/>
                </a:solidFill>
                <a:latin typeface="Consolas"/>
              </a:rPr>
              <a:t>(1/Q)∂p/∂t + α∂(∇·u)/∂t − ∇·(χ∇p) = q(x,t)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731520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r"/>
            <a:r>
              <a:rPr sz="1000" b="0" i="0">
                <a:solidFill>
                  <a:srgbClr val="5B7A94"/>
                </a:solidFill>
                <a:latin typeface="Calibri"/>
              </a:rPr>
              <a:t>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300" b="1" i="0">
                <a:solidFill>
                  <a:srgbClr val="1C7293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607040" cy="82296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3000" b="1" i="0">
                <a:solidFill>
                  <a:srgbClr val="1B2733"/>
                </a:solidFill>
                <a:latin typeface="Cambria"/>
              </a:rPr>
              <a:t>Fluid Injection Deforms and Pressurizes the Crust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6949440" cy="155448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Calibri"/>
              </a:rPr>
              <a:t>Zhai et al. (2019, PNAS) model induced earthquakes in Oklahoma using linear Biot poroelasticity: injecting wastewater raises pore pressure AND deforms the surrounding rock — and that deformation feeds back into the pressure field. The two effects can only be solved together.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6949440" cy="23774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  <a:buClr>
                <a:srgbClr val="065A82"/>
              </a:buClr>
              <a:buFont typeface="Arial"/>
              <a:buChar char="•"/>
            </a:pPr>
            <a:r>
              <a:rPr sz="1450" b="0" i="0">
                <a:solidFill>
                  <a:srgbClr val="1B2733"/>
                </a:solidFill>
                <a:latin typeface="Calibri"/>
              </a:rPr>
              <a:t>G, ν — shear modulus &amp; drained Poisson ratio (pure elasticity)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  <a:buClr>
                <a:srgbClr val="065A82"/>
              </a:buClr>
              <a:buFont typeface="Arial"/>
              <a:buChar char="•"/>
            </a:pPr>
            <a:r>
              <a:rPr sz="1450" b="0" i="0">
                <a:solidFill>
                  <a:srgbClr val="1B2733"/>
                </a:solidFill>
                <a:latin typeface="Calibri"/>
              </a:rPr>
              <a:t>νᵤ, B — undrained Poisson ratio &amp; Skempton coefficient (fluid stiffness)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  <a:buClr>
                <a:srgbClr val="065A82"/>
              </a:buClr>
              <a:buFont typeface="Arial"/>
              <a:buChar char="•"/>
            </a:pPr>
            <a:r>
              <a:rPr sz="1450" b="0" i="0">
                <a:solidFill>
                  <a:srgbClr val="1B2733"/>
                </a:solidFill>
                <a:latin typeface="Calibri"/>
              </a:rPr>
              <a:t>D — hydraulic diffusivity (how fast pressure spreads)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  <a:buClr>
                <a:srgbClr val="065A82"/>
              </a:buClr>
              <a:buFont typeface="Arial"/>
              <a:buChar char="•"/>
            </a:pPr>
            <a:r>
              <a:rPr sz="1450" b="0" i="0">
                <a:solidFill>
                  <a:srgbClr val="1B2733"/>
                </a:solidFill>
                <a:latin typeface="Calibri"/>
              </a:rPr>
              <a:t>α, Q, χ — derived coupling constants computed from the 5 above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234440"/>
            <a:ext cx="3657600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016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0" y="1463040"/>
            <a:ext cx="3108960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100" b="1" i="0">
                <a:solidFill>
                  <a:srgbClr val="1C7293"/>
                </a:solidFill>
                <a:latin typeface="Calibri"/>
              </a:rPr>
              <a:t>GOVERNING EQUATIONS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1828800"/>
            <a:ext cx="3108960" cy="237744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  <a:effectLst>
            <a:outerShdw blurRad="1016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93608" y="1938528"/>
            <a:ext cx="2743200" cy="215798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50">
                <a:solidFill>
                  <a:srgbClr val="D4D4D4"/>
                </a:solidFill>
                <a:latin typeface="Consolas"/>
              </a:rPr>
              <a:t>// momentum balance (Eq. 1)</a:t>
            </a:r>
          </a:p>
          <a:p>
            <a:pPr>
              <a:lnSpc>
                <a:spcPct val="100000"/>
              </a:lnSpc>
            </a:pPr>
            <a:r>
              <a:rPr sz="1150">
                <a:solidFill>
                  <a:srgbClr val="D4D4D4"/>
                </a:solidFill>
                <a:latin typeface="Consolas"/>
              </a:rPr>
              <a:t>G*Lap(u)</a:t>
            </a:r>
          </a:p>
          <a:p>
            <a:pPr>
              <a:lnSpc>
                <a:spcPct val="100000"/>
              </a:lnSpc>
            </a:pPr>
            <a:r>
              <a:rPr sz="1150">
                <a:solidFill>
                  <a:srgbClr val="D4D4D4"/>
                </a:solidFill>
                <a:latin typeface="Consolas"/>
              </a:rPr>
              <a:t>  + G/(1-2v)*grad(div u)</a:t>
            </a:r>
          </a:p>
          <a:p>
            <a:pPr>
              <a:lnSpc>
                <a:spcPct val="100000"/>
              </a:lnSpc>
            </a:pPr>
            <a:r>
              <a:rPr sz="1150">
                <a:solidFill>
                  <a:srgbClr val="D4D4D4"/>
                </a:solidFill>
                <a:latin typeface="Consolas"/>
              </a:rPr>
              <a:t>  - alpha*grad(p) = f</a:t>
            </a:r>
          </a:p>
          <a:p>
            <a:pPr>
              <a:lnSpc>
                <a:spcPct val="100000"/>
              </a:lnSpc>
            </a:pPr>
            <a:r>
              <a:rPr sz="115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lnSpc>
                <a:spcPct val="100000"/>
              </a:lnSpc>
            </a:pPr>
            <a:r>
              <a:rPr sz="1150">
                <a:solidFill>
                  <a:srgbClr val="D4D4D4"/>
                </a:solidFill>
                <a:latin typeface="Consolas"/>
              </a:rPr>
              <a:t>// pore-pressure diffusion (Eq. 2)</a:t>
            </a:r>
          </a:p>
          <a:p>
            <a:pPr>
              <a:lnSpc>
                <a:spcPct val="100000"/>
              </a:lnSpc>
            </a:pPr>
            <a:r>
              <a:rPr sz="1150">
                <a:solidFill>
                  <a:srgbClr val="D4D4D4"/>
                </a:solidFill>
                <a:latin typeface="Consolas"/>
              </a:rPr>
              <a:t>(1/Q)*dp/dt</a:t>
            </a:r>
          </a:p>
          <a:p>
            <a:pPr>
              <a:lnSpc>
                <a:spcPct val="100000"/>
              </a:lnSpc>
            </a:pPr>
            <a:r>
              <a:rPr sz="1150">
                <a:solidFill>
                  <a:srgbClr val="D4D4D4"/>
                </a:solidFill>
                <a:latin typeface="Consolas"/>
              </a:rPr>
              <a:t>  + alpha*d(div u)/dt</a:t>
            </a:r>
          </a:p>
          <a:p>
            <a:pPr>
              <a:lnSpc>
                <a:spcPct val="100000"/>
              </a:lnSpc>
            </a:pPr>
            <a:r>
              <a:rPr sz="1150">
                <a:solidFill>
                  <a:srgbClr val="D4D4D4"/>
                </a:solidFill>
                <a:latin typeface="Consolas"/>
              </a:rPr>
              <a:t>  - div(chi*grad p) = 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4343400"/>
            <a:ext cx="3200400" cy="14630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150" b="0" i="1">
                <a:solidFill>
                  <a:srgbClr val="5B6B7A"/>
                </a:solidFill>
                <a:latin typeface="Calibri"/>
              </a:rPr>
              <a:t>u = displacement,  p = excess pore pressure</a:t>
            </a:r>
          </a:p>
          <a:p>
            <a:pPr algn="l">
              <a:lnSpc>
                <a:spcPct val="130000"/>
              </a:lnSpc>
            </a:pPr>
            <a:r>
              <a:rPr sz="1150" b="0" i="1">
                <a:solidFill>
                  <a:srgbClr val="5B6B7A"/>
                </a:solidFill>
                <a:latin typeface="Calibri"/>
              </a:rPr>
              <a:t>identical in Zhai et al. (2019) &amp; Wang &amp; Kümpel (2003)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473952"/>
            <a:ext cx="731520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r"/>
            <a:r>
              <a:rPr sz="1000" b="0" i="0">
                <a:solidFill>
                  <a:srgbClr val="9AA5B1"/>
                </a:solidFill>
                <a:latin typeface="Calibri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300" b="1" i="0">
                <a:solidFill>
                  <a:srgbClr val="1C7293"/>
                </a:solidFill>
                <a:latin typeface="Calibri"/>
              </a:rPr>
              <a:t>TWO SOLUTION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607040" cy="82296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3000" b="1" i="0">
                <a:solidFill>
                  <a:srgbClr val="1B2733"/>
                </a:solidFill>
                <a:latin typeface="Cambria"/>
              </a:rPr>
              <a:t>The Paper's Method vs. Our Method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5074920" cy="4663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016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2980" y="1714500"/>
            <a:ext cx="502920" cy="502920"/>
          </a:xfrm>
          <a:prstGeom prst="ellipse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737360"/>
            <a:ext cx="3840480" cy="45720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800" b="1" i="0">
                <a:solidFill>
                  <a:srgbClr val="1B2733"/>
                </a:solidFill>
                <a:latin typeface="Cambria"/>
              </a:rPr>
              <a:t>The Paper's Method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526280" cy="32918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  <a:buClr>
                <a:srgbClr val="21295C"/>
              </a:buClr>
              <a:buFont typeface="Arial"/>
              <a:buChar char="•"/>
            </a:pPr>
            <a:r>
              <a:rPr sz="1350" b="0" i="0">
                <a:solidFill>
                  <a:srgbClr val="1B2733"/>
                </a:solidFill>
                <a:latin typeface="Calibri"/>
              </a:rPr>
              <a:t>Laplace transform removes time; Hankel transform removes radius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  <a:buClr>
                <a:srgbClr val="21295C"/>
              </a:buClr>
              <a:buFont typeface="Arial"/>
              <a:buChar char="•"/>
            </a:pPr>
            <a:r>
              <a:rPr sz="1350" b="0" i="0">
                <a:solidFill>
                  <a:srgbClr val="1B2733"/>
                </a:solidFill>
                <a:latin typeface="Calibri"/>
              </a:rPr>
              <a:t>Haskell propagator matrix solves the remaining ODE in depth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  <a:buClr>
                <a:srgbClr val="21295C"/>
              </a:buClr>
              <a:buFont typeface="Arial"/>
              <a:buChar char="•"/>
            </a:pPr>
            <a:r>
              <a:rPr sz="1350" b="0" i="0">
                <a:solidFill>
                  <a:srgbClr val="1B2733"/>
                </a:solidFill>
                <a:latin typeface="Calibri"/>
              </a:rPr>
              <a:t>Numerical inverse transforms recover the space-time solution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  <a:buClr>
                <a:srgbClr val="21295C"/>
              </a:buClr>
              <a:buFont typeface="Arial"/>
              <a:buChar char="•"/>
            </a:pPr>
            <a:r>
              <a:rPr sz="1350" b="0" i="0">
                <a:solidFill>
                  <a:srgbClr val="1B2733"/>
                </a:solidFill>
                <a:latin typeface="Calibri"/>
              </a:rPr>
              <a:t>Semi-analytical, axisymmetric, supports layered media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  <a:buClr>
                <a:srgbClr val="21295C"/>
              </a:buClr>
              <a:buFont typeface="Arial"/>
              <a:buChar char="•"/>
            </a:pPr>
            <a:r>
              <a:rPr sz="1350" b="1" i="0">
                <a:solidFill>
                  <a:srgbClr val="1B2733"/>
                </a:solidFill>
                <a:latin typeface="Calibri"/>
              </a:rPr>
              <a:t>Implemented in POEL2024 (Fortran, R. Wang's own code)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71600"/>
            <a:ext cx="5074920" cy="4663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016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606540" y="1714500"/>
            <a:ext cx="502920" cy="50292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1737360"/>
            <a:ext cx="3840480" cy="45720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800" b="1" i="0">
                <a:solidFill>
                  <a:srgbClr val="1B2733"/>
                </a:solidFill>
                <a:latin typeface="Cambria"/>
              </a:rPr>
              <a:t>Our Method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514600"/>
            <a:ext cx="4526280" cy="32918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  <a:buClr>
                <a:srgbClr val="065A82"/>
              </a:buClr>
              <a:buFont typeface="Arial"/>
              <a:buChar char="•"/>
            </a:pPr>
            <a:r>
              <a:rPr sz="1350" b="0" i="0">
                <a:solidFill>
                  <a:srgbClr val="1B2733"/>
                </a:solidFill>
                <a:latin typeface="Calibri"/>
              </a:rPr>
              <a:t>Solve directly in space and time — no transforms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  <a:buClr>
                <a:srgbClr val="065A82"/>
              </a:buClr>
              <a:buFont typeface="Arial"/>
              <a:buChar char="•"/>
            </a:pPr>
            <a:r>
              <a:rPr sz="1350" b="0" i="0">
                <a:solidFill>
                  <a:srgbClr val="1B2733"/>
                </a:solidFill>
                <a:latin typeface="Calibri"/>
              </a:rPr>
              <a:t>3D finite differences on a Cartesian grid (half-space box)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  <a:buClr>
                <a:srgbClr val="065A82"/>
              </a:buClr>
              <a:buFont typeface="Arial"/>
              <a:buChar char="•"/>
            </a:pPr>
            <a:r>
              <a:rPr sz="1350" b="0" i="0">
                <a:solidFill>
                  <a:srgbClr val="1B2733"/>
                </a:solidFill>
                <a:latin typeface="Calibri"/>
              </a:rPr>
              <a:t>Matrix-free CG / BiCGSTAB linear solvers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  <a:buClr>
                <a:srgbClr val="065A82"/>
              </a:buClr>
              <a:buFont typeface="Arial"/>
              <a:buChar char="•"/>
            </a:pPr>
            <a:r>
              <a:rPr sz="1350" b="0" i="0">
                <a:solidFill>
                  <a:srgbClr val="1B2733"/>
                </a:solidFill>
                <a:latin typeface="Calibri"/>
              </a:rPr>
              <a:t>Fixed-stress split couples elasticity ↔ diffusion each step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  <a:buClr>
                <a:srgbClr val="065A82"/>
              </a:buClr>
              <a:buFont typeface="Arial"/>
              <a:buChar char="•"/>
            </a:pPr>
            <a:r>
              <a:rPr sz="1350" b="1" i="0">
                <a:solidFill>
                  <a:srgbClr val="1B2733"/>
                </a:solidFill>
                <a:latin typeface="Calibri"/>
              </a:rPr>
              <a:t>Implemented from scratch in Rust (this project)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7295" y="6473952"/>
            <a:ext cx="731520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r"/>
            <a:r>
              <a:rPr sz="1000" b="0" i="0">
                <a:solidFill>
                  <a:srgbClr val="9AA5B1"/>
                </a:solidFill>
                <a:latin typeface="Calibri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300" b="1" i="0">
                <a:solidFill>
                  <a:srgbClr val="1C7293"/>
                </a:solidFill>
                <a:latin typeface="Calibri"/>
              </a:rPr>
              <a:t>OUR NUMERICAL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607040" cy="82296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3000" b="1" i="0">
                <a:solidFill>
                  <a:srgbClr val="1B2733"/>
                </a:solidFill>
                <a:latin typeface="Cambria"/>
              </a:rPr>
              <a:t>Finite Differences + Fixed-Stress Coupling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260604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016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91639"/>
            <a:ext cx="548640" cy="54864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423160"/>
            <a:ext cx="2148840" cy="64008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550" b="1" i="0">
                <a:solidFill>
                  <a:srgbClr val="1B2733"/>
                </a:solidFill>
                <a:latin typeface="Cambria"/>
              </a:rPr>
              <a:t>Discretize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063240"/>
            <a:ext cx="2148840" cy="2560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B6B7A"/>
                </a:solidFill>
                <a:latin typeface="Calibri"/>
              </a:rPr>
              <a:t>Second-order central differences on a uniform 3D grid; free-surface traction-free BC via a ghost-node relation.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47288" y="1463040"/>
            <a:ext cx="260604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016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675888" y="1691639"/>
            <a:ext cx="548640" cy="54864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75888" y="2423160"/>
            <a:ext cx="2148840" cy="64008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550" b="1" i="0">
                <a:solidFill>
                  <a:srgbClr val="1B2733"/>
                </a:solidFill>
                <a:latin typeface="Cambria"/>
              </a:rPr>
              <a:t>Solve elasticity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5888" y="3063240"/>
            <a:ext cx="2148840" cy="2560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B6B7A"/>
                </a:solidFill>
                <a:latin typeface="Calibri"/>
              </a:rPr>
              <a:t>BiCGSTAB solves G∇²u + (λ+G)∇(∇·u) = α∇p for displacement, given the current pressure.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4496" y="1463040"/>
            <a:ext cx="260604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016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3096" y="1691639"/>
            <a:ext cx="548640" cy="54864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2423160"/>
            <a:ext cx="2148840" cy="64008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550" b="1" i="0">
                <a:solidFill>
                  <a:srgbClr val="1B2733"/>
                </a:solidFill>
                <a:latin typeface="Cambria"/>
              </a:rPr>
              <a:t>Solve diffusion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3096" y="3063240"/>
            <a:ext cx="2148840" cy="2560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B6B7A"/>
                </a:solidFill>
                <a:latin typeface="Calibri"/>
              </a:rPr>
              <a:t>Conjugate gradient solves the backward-Euler pressure equation, given the current strain rate.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61704" y="1463040"/>
            <a:ext cx="260604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016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90304" y="1691639"/>
            <a:ext cx="548640" cy="54864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90304" y="2423160"/>
            <a:ext cx="2148840" cy="64008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550" b="1" i="0">
                <a:solidFill>
                  <a:srgbClr val="1B2733"/>
                </a:solidFill>
                <a:latin typeface="Cambria"/>
              </a:rPr>
              <a:t>Couple (fixed-stress)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90304" y="3063240"/>
            <a:ext cx="2148840" cy="2560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B6B7A"/>
                </a:solidFill>
                <a:latin typeface="Calibri"/>
              </a:rPr>
              <a:t>Iterate steps 2-3 each time step; a stabilization term β=α²/K_dr guarantees convergence.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77295" y="6473952"/>
            <a:ext cx="731520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r"/>
            <a:r>
              <a:rPr sz="1000" b="0" i="0">
                <a:solidFill>
                  <a:srgbClr val="9AA5B1"/>
                </a:solidFill>
                <a:latin typeface="Calibri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300" b="1" i="0">
                <a:solidFill>
                  <a:srgbClr val="1C7293"/>
                </a:solidFill>
                <a:latin typeface="Calibri"/>
              </a:rPr>
              <a:t>VALIDATION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607040" cy="82296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3000" b="1" i="0">
                <a:solidFill>
                  <a:srgbClr val="1B2733"/>
                </a:solidFill>
                <a:latin typeface="Cambria"/>
              </a:rPr>
              <a:t>Three Independent Checks, Increasing in Difficulty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016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" y="1920240"/>
            <a:ext cx="548640" cy="54864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1764792"/>
            <a:ext cx="3017520" cy="82296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/>
            <a:r>
              <a:rPr sz="1700" b="1" i="0">
                <a:solidFill>
                  <a:srgbClr val="1B2733"/>
                </a:solidFill>
                <a:latin typeface="Cambria"/>
              </a:rPr>
              <a:t>Exact formula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764792"/>
            <a:ext cx="6446520" cy="86868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5B6B7A"/>
                </a:solidFill>
                <a:latin typeface="Calibri"/>
              </a:rPr>
              <a:t>Diffusion module alone vs. the closed-form Carslaw &amp; Jaeger point-source solution.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81528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016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3493008"/>
            <a:ext cx="548640" cy="54864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337560"/>
            <a:ext cx="3017520" cy="82296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/>
            <a:r>
              <a:rPr sz="1700" b="1" i="0">
                <a:solidFill>
                  <a:srgbClr val="1B2733"/>
                </a:solidFill>
                <a:latin typeface="Cambria"/>
              </a:rPr>
              <a:t>Paper's own tool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3337560"/>
            <a:ext cx="6446520" cy="86868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5B6B7A"/>
                </a:solidFill>
                <a:latin typeface="Calibri"/>
              </a:rPr>
              <a:t>Compiled and ran POEL2024 (R. Wang's reference code) with the paper's exact test-case parameters.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654296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016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0120" y="5065776"/>
            <a:ext cx="548640" cy="548640"/>
          </a:xfrm>
          <a:prstGeom prst="ellipse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4910328"/>
            <a:ext cx="3017520" cy="82296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/>
            <a:r>
              <a:rPr sz="1700" b="1" i="0">
                <a:solidFill>
                  <a:srgbClr val="1B2733"/>
                </a:solidFill>
                <a:latin typeface="Cambria"/>
              </a:rPr>
              <a:t>Our code vs. that tool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4910328"/>
            <a:ext cx="6446520" cy="86868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5B6B7A"/>
                </a:solidFill>
                <a:latin typeface="Calibri"/>
              </a:rPr>
              <a:t>Ran our full coupled Rust solver on the identical scenario and compared results directly.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77295" y="6473952"/>
            <a:ext cx="731520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r"/>
            <a:r>
              <a:rPr sz="1000" b="0" i="0">
                <a:solidFill>
                  <a:srgbClr val="9AA5B1"/>
                </a:solidFill>
                <a:latin typeface="Calibri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300" b="1" i="0">
                <a:solidFill>
                  <a:srgbClr val="1C7293"/>
                </a:solidFill>
                <a:latin typeface="Calibri"/>
              </a:rPr>
              <a:t>CHECK 1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607040" cy="82296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3000" b="1" i="0">
                <a:solidFill>
                  <a:srgbClr val="1B2733"/>
                </a:solidFill>
                <a:latin typeface="Cambria"/>
              </a:rPr>
              <a:t>Diffusion Module vs. Exact Analytical Solution</a:t>
            </a:r>
          </a:p>
        </p:txBody>
      </p:sp>
      <p:pic>
        <p:nvPicPr>
          <p:cNvPr id="4" name="Picture 3" descr="plot1_diffusion_analyt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6528816" cy="4663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18120" y="1371600"/>
            <a:ext cx="3749039" cy="4663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016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92440" y="1600200"/>
            <a:ext cx="3200400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100" b="1" i="0">
                <a:solidFill>
                  <a:srgbClr val="1C7293"/>
                </a:solidFill>
                <a:latin typeface="Calibri"/>
              </a:rPr>
              <a:t>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1920240"/>
            <a:ext cx="3246120" cy="21031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  <a:buClr>
                <a:srgbClr val="065A82"/>
              </a:buClr>
              <a:buFont typeface="Arial"/>
              <a:buChar char="•"/>
            </a:pPr>
            <a:r>
              <a:rPr sz="1250" b="0" i="0">
                <a:solidFill>
                  <a:srgbClr val="1B2733"/>
                </a:solidFill>
                <a:latin typeface="Calibri"/>
              </a:rPr>
              <a:t>Continuous point injection into a homogeneous medium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  <a:buClr>
                <a:srgbClr val="065A82"/>
              </a:buClr>
              <a:buFont typeface="Arial"/>
              <a:buChar char="•"/>
            </a:pPr>
            <a:r>
              <a:rPr sz="1250" b="0" i="0">
                <a:solidFill>
                  <a:srgbClr val="1B2733"/>
                </a:solidFill>
                <a:latin typeface="Calibri"/>
              </a:rPr>
              <a:t>Compared against the classical Carslaw &amp; Jaeger solution (same formula used in Wang &amp; Kümpel Eq. 18)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  <a:buClr>
                <a:srgbClr val="065A82"/>
              </a:buClr>
              <a:buFont typeface="Arial"/>
              <a:buChar char="•"/>
            </a:pPr>
            <a:r>
              <a:rPr sz="1250" b="1" i="0">
                <a:solidFill>
                  <a:srgbClr val="1B2733"/>
                </a:solidFill>
                <a:latin typeface="Calibri"/>
              </a:rPr>
              <a:t>Line = exact formula.  Dots = our Rust solver.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4297680"/>
            <a:ext cx="3246120" cy="1463040"/>
          </a:xfrm>
          <a:prstGeom prst="roundRect">
            <a:avLst>
              <a:gd name="adj" fmla="val 6000"/>
            </a:avLst>
          </a:prstGeom>
          <a:solidFill>
            <a:srgbClr val="EA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4434840"/>
            <a:ext cx="3063240" cy="64008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/>
            <a:r>
              <a:rPr sz="3200" b="1" i="0">
                <a:solidFill>
                  <a:srgbClr val="065A82"/>
                </a:solidFill>
                <a:latin typeface="Cambria"/>
              </a:rPr>
              <a:t>&lt; 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5074920"/>
            <a:ext cx="3063240" cy="45720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/>
            <a:r>
              <a:rPr sz="1150" b="0" i="0">
                <a:solidFill>
                  <a:srgbClr val="5B6B7A"/>
                </a:solidFill>
                <a:latin typeface="Calibri"/>
              </a:rPr>
              <a:t>error at r = 30-45 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473952"/>
            <a:ext cx="731520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r"/>
            <a:r>
              <a:rPr sz="1000" b="0" i="0">
                <a:solidFill>
                  <a:srgbClr val="9AA5B1"/>
                </a:solidFill>
                <a:latin typeface="Calibri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300" b="1" i="0">
                <a:solidFill>
                  <a:srgbClr val="1C7293"/>
                </a:solidFill>
                <a:latin typeface="Calibri"/>
              </a:rPr>
              <a:t>CHECK 2 &amp; 3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607040" cy="82296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3000" b="1" i="0">
                <a:solidFill>
                  <a:srgbClr val="1B2733"/>
                </a:solidFill>
                <a:latin typeface="Cambria"/>
              </a:rPr>
              <a:t>Side by Side With the Published Figure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5212080" cy="36576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/>
            <a:r>
              <a:rPr sz="1250" b="1" i="0">
                <a:solidFill>
                  <a:srgbClr val="5B6B7A"/>
                </a:solidFill>
                <a:latin typeface="Calibri"/>
              </a:rPr>
              <a:t>Wang &amp; Kümpel (2003), Figure 2 (pore pressure, half-space)</a:t>
            </a:r>
          </a:p>
        </p:txBody>
      </p:sp>
      <p:pic>
        <p:nvPicPr>
          <p:cNvPr id="5" name="Picture 4" descr="wk2003_fig2_pressure_colum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3470" y="1600200"/>
            <a:ext cx="1725299" cy="4709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09360" y="1188720"/>
            <a:ext cx="5394960" cy="36576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/>
            <a:r>
              <a:rPr sz="1250" b="1" i="0">
                <a:solidFill>
                  <a:srgbClr val="5B6B7A"/>
                </a:solidFill>
                <a:latin typeface="Calibri"/>
              </a:rPr>
              <a:t>Our reproduction: paper's method (line) vs. our Rust solver (dots)</a:t>
            </a:r>
          </a:p>
        </p:txBody>
      </p:sp>
      <p:pic>
        <p:nvPicPr>
          <p:cNvPr id="7" name="Picture 6" descr="plot5_paper_style_ma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2098" y="1600200"/>
            <a:ext cx="1798042" cy="4709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77295" y="6473952"/>
            <a:ext cx="731520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r"/>
            <a:r>
              <a:rPr sz="1000" b="0" i="0">
                <a:solidFill>
                  <a:srgbClr val="9AA5B1"/>
                </a:solidFill>
                <a:latin typeface="Calibri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300" b="1" i="0">
                <a:solidFill>
                  <a:srgbClr val="1C7293"/>
                </a:solidFill>
                <a:latin typeface="Calibri"/>
              </a:rPr>
              <a:t>QUANTITATIVE AGREEMENT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607040" cy="82296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3000" b="1" i="0">
                <a:solidFill>
                  <a:srgbClr val="1B2733"/>
                </a:solidFill>
                <a:latin typeface="Cambria"/>
              </a:rPr>
              <a:t>Our Rust Solver vs. POEL2024, at r = 40 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554480"/>
          <a:ext cx="105156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206240"/>
                <a:gridCol w="4206240"/>
              </a:tblGrid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Depth</a:t>
                      </a:r>
                    </a:p>
                  </a:txBody>
                  <a:tcPr marL="73152" marR="73152" marT="36576" marB="36576" anchor="ctr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t ≈ 700 s</a:t>
                      </a:r>
                    </a:p>
                  </a:txBody>
                  <a:tcPr marL="73152" marR="73152" marT="36576" marB="36576" anchor="ctr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t ≈ 8000 s</a:t>
                      </a:r>
                    </a:p>
                  </a:txBody>
                  <a:tcPr marL="73152" marR="73152" marT="36576" marB="36576" anchor="ctr">
                    <a:solidFill>
                      <a:srgbClr val="065A82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12121"/>
                          </a:solidFill>
                          <a:latin typeface="Calibri"/>
                        </a:rPr>
                        <a:t>z = 5 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12121"/>
                          </a:solidFill>
                          <a:latin typeface="Calibri"/>
                        </a:rPr>
                        <a:t>153.6 vs 153.0 Pa  (0.4%)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12121"/>
                          </a:solidFill>
                          <a:latin typeface="Calibri"/>
                        </a:rPr>
                        <a:t>774.7 vs 696.4 Pa  (11.2%)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12121"/>
                          </a:solidFill>
                          <a:latin typeface="Calibri"/>
                        </a:rPr>
                        <a:t>z = 15 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12121"/>
                          </a:solidFill>
                          <a:latin typeface="Calibri"/>
                        </a:rPr>
                        <a:t>559.3 vs 558.0 Pa  (0.2%)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12121"/>
                          </a:solidFill>
                          <a:latin typeface="Calibri"/>
                        </a:rPr>
                        <a:t>2345.5 vs 2098.2 Pa  (11.8%)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12121"/>
                          </a:solidFill>
                          <a:latin typeface="Calibri"/>
                        </a:rPr>
                        <a:t>z = 45 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12121"/>
                          </a:solidFill>
                          <a:latin typeface="Calibri"/>
                        </a:rPr>
                        <a:t>2591.0 vs 2654.0 Pa  (2.4%)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12121"/>
                          </a:solidFill>
                          <a:latin typeface="Calibri"/>
                        </a:rPr>
                        <a:t>7056.2 vs 6306.5 Pa  (11.9%)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12121"/>
                          </a:solidFill>
                          <a:latin typeface="Calibri"/>
                        </a:rPr>
                        <a:t>z = 75 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12121"/>
                          </a:solidFill>
                          <a:latin typeface="Calibri"/>
                        </a:rPr>
                        <a:t>2715.5 vs 2760.0 Pa  (1.6%)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12121"/>
                          </a:solidFill>
                          <a:latin typeface="Calibri"/>
                        </a:rPr>
                        <a:t>8092.6 vs 6938.8 Pa  (16.6%)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22960" y="4343400"/>
            <a:ext cx="1051560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016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526280"/>
            <a:ext cx="9966960" cy="137160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B2733"/>
                </a:solidFill>
                <a:latin typeface="Calibri"/>
              </a:rPr>
              <a:t>Two completely independent numerical methods — 3D Cartesian finite differences and a semi-analytical Laplace-Hankel propagator — agree to within 0.2-2.5% for the first ~50 minutes of simulated time. This is strong evidence the Rust implementation is physically and numerically correct.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731520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r"/>
            <a:r>
              <a:rPr sz="1000" b="0" i="0">
                <a:solidFill>
                  <a:srgbClr val="9AA5B1"/>
                </a:solidFill>
                <a:latin typeface="Calibri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300" b="1" i="0">
                <a:solidFill>
                  <a:srgbClr val="1C7293"/>
                </a:solidFill>
                <a:latin typeface="Calibri"/>
              </a:rPr>
              <a:t>HONEST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607040" cy="82296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3000" b="1" i="0">
                <a:solidFill>
                  <a:srgbClr val="1B2733"/>
                </a:solidFill>
                <a:latin typeface="Cambria"/>
              </a:rPr>
              <a:t>Where the Agreement Degrades, and Why</a:t>
            </a:r>
          </a:p>
        </p:txBody>
      </p:sp>
      <p:pic>
        <p:nvPicPr>
          <p:cNvPr id="4" name="Picture 3" descr="plot4_rust_vs_poel_fixed_str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78279"/>
            <a:ext cx="6675120" cy="44500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406640" y="1371600"/>
            <a:ext cx="4160520" cy="4663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016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0" y="1600200"/>
            <a:ext cx="3566160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100" b="1" i="0">
                <a:solidFill>
                  <a:srgbClr val="1C7293"/>
                </a:solidFill>
                <a:latin typeface="Calibri"/>
              </a:rPr>
              <a:t>WHY IT DRIFTS AT LATE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1965960"/>
            <a:ext cx="3657600" cy="384048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  <a:buClr>
                <a:srgbClr val="D64545"/>
              </a:buClr>
              <a:buFont typeface="Arial"/>
              <a:buChar char="•"/>
            </a:pPr>
            <a:r>
              <a:rPr sz="1300" b="0" i="0">
                <a:solidFill>
                  <a:srgbClr val="1B2733"/>
                </a:solidFill>
                <a:latin typeface="Calibri"/>
              </a:rPr>
              <a:t>Our domain has only 120 m of lateral clearance around the well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  <a:buClr>
                <a:srgbClr val="D64545"/>
              </a:buClr>
              <a:buFont typeface="Arial"/>
              <a:buChar char="•"/>
            </a:pPr>
            <a:r>
              <a:rPr sz="1300" b="0" i="0">
                <a:solidFill>
                  <a:srgbClr val="1B2733"/>
                </a:solidFill>
                <a:latin typeface="Calibri"/>
              </a:rPr>
              <a:t>Diffusion length reaches ~89 m by t = 8000 s — close enough that the finite boundary reflects pressure back inward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  <a:buClr>
                <a:srgbClr val="D64545"/>
              </a:buClr>
              <a:buFont typeface="Arial"/>
              <a:buChar char="•"/>
            </a:pPr>
            <a:r>
              <a:rPr sz="1300" b="0" i="0">
                <a:solidFill>
                  <a:srgbClr val="1B2733"/>
                </a:solidFill>
                <a:latin typeface="Calibri"/>
              </a:rPr>
              <a:t>Not a coupling-scheme error: a larger domain pushes this out to later times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  <a:buClr>
                <a:srgbClr val="D64545"/>
              </a:buClr>
              <a:buFont typeface="Arial"/>
              <a:buChar char="•"/>
            </a:pPr>
            <a:r>
              <a:rPr sz="1300" b="0" i="0">
                <a:solidFill>
                  <a:srgbClr val="1B2733"/>
                </a:solidFill>
                <a:latin typeface="Calibri"/>
              </a:rPr>
              <a:t>Also: single homogeneous layer, not the paper's layered Earth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73952"/>
            <a:ext cx="731520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r"/>
            <a:r>
              <a:rPr sz="1000" b="0" i="0">
                <a:solidFill>
                  <a:srgbClr val="9AA5B1"/>
                </a:solidFill>
                <a:latin typeface="Calibri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300" b="1" i="0">
                <a:solidFill>
                  <a:srgbClr val="1C7293"/>
                </a:solidFill>
                <a:latin typeface="Calibri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607040" cy="82296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3000" b="1" i="0">
                <a:solidFill>
                  <a:srgbClr val="1B2733"/>
                </a:solidFill>
                <a:latin typeface="Cambria"/>
              </a:rPr>
              <a:t>What This Demonstrates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607040" cy="338328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20000"/>
              </a:lnSpc>
              <a:spcAft>
                <a:spcPts val="2000"/>
              </a:spcAft>
              <a:buClr>
                <a:srgbClr val="065A82"/>
              </a:buClr>
              <a:buFont typeface="Arial"/>
              <a:buChar char="•"/>
            </a:pPr>
            <a:r>
              <a:rPr sz="1650" b="0" i="0">
                <a:solidFill>
                  <a:srgbClr val="1B2733"/>
                </a:solidFill>
                <a:latin typeface="Calibri"/>
              </a:rPr>
              <a:t>A from-scratch Rust implementation of the coupled Biot poroelasticity system (momentum + pressure diffusion)</a:t>
            </a:r>
          </a:p>
          <a:p>
            <a:pPr algn="l">
              <a:lnSpc>
                <a:spcPct val="120000"/>
              </a:lnSpc>
              <a:spcAft>
                <a:spcPts val="2000"/>
              </a:spcAft>
              <a:buClr>
                <a:srgbClr val="065A82"/>
              </a:buClr>
              <a:buFont typeface="Arial"/>
              <a:buChar char="•"/>
            </a:pPr>
            <a:r>
              <a:rPr sz="1650" b="0" i="0">
                <a:solidFill>
                  <a:srgbClr val="1B2733"/>
                </a:solidFill>
                <a:latin typeface="Calibri"/>
              </a:rPr>
              <a:t>Verified against an exact analytical solution, the paper's own reference software, and (after fixing a real numerical instability) against that software's output directly</a:t>
            </a:r>
          </a:p>
          <a:p>
            <a:pPr algn="l">
              <a:lnSpc>
                <a:spcPct val="120000"/>
              </a:lnSpc>
              <a:spcAft>
                <a:spcPts val="2000"/>
              </a:spcAft>
              <a:buClr>
                <a:srgbClr val="065A82"/>
              </a:buClr>
              <a:buFont typeface="Arial"/>
              <a:buChar char="•"/>
            </a:pPr>
            <a:r>
              <a:rPr sz="1650" b="0" i="0">
                <a:solidFill>
                  <a:srgbClr val="1B2733"/>
                </a:solidFill>
                <a:latin typeface="Calibri"/>
              </a:rPr>
              <a:t>The fixed-stress split iteration was necessary and sufficient to stabilize the strongly-coupled regime (α ≈ 0.95) that a naive iteration could not handle</a:t>
            </a:r>
          </a:p>
          <a:p>
            <a:pPr algn="l">
              <a:lnSpc>
                <a:spcPct val="120000"/>
              </a:lnSpc>
              <a:spcAft>
                <a:spcPts val="2000"/>
              </a:spcAft>
              <a:buClr>
                <a:srgbClr val="065A82"/>
              </a:buClr>
              <a:buFont typeface="Arial"/>
              <a:buChar char="•"/>
            </a:pPr>
            <a:r>
              <a:rPr sz="1650" b="0" i="0">
                <a:solidFill>
                  <a:srgbClr val="1B2733"/>
                </a:solidFill>
                <a:latin typeface="Calibri"/>
              </a:rPr>
              <a:t>Remaining gap (finite-domain boundary effect at late time) is understood, quantified, and fixable by enlarging the domain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074920"/>
            <a:ext cx="3502152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016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193792"/>
            <a:ext cx="3502152" cy="59436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/>
            <a:r>
              <a:rPr sz="3000" b="1" i="0">
                <a:solidFill>
                  <a:srgbClr val="065A82"/>
                </a:solidFill>
                <a:latin typeface="Cambria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806440"/>
            <a:ext cx="3044952" cy="45720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5B6B7A"/>
                </a:solidFill>
                <a:latin typeface="Calibri"/>
              </a:rPr>
              <a:t>independent checks passed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42816" y="5074920"/>
            <a:ext cx="3502152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016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42816" y="5193792"/>
            <a:ext cx="3502152" cy="59436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/>
            <a:r>
              <a:rPr sz="3000" b="1" i="0">
                <a:solidFill>
                  <a:srgbClr val="065A82"/>
                </a:solidFill>
                <a:latin typeface="Cambria"/>
              </a:rPr>
              <a:t>&lt;3%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71416" y="5806440"/>
            <a:ext cx="3044952" cy="45720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5B6B7A"/>
                </a:solidFill>
                <a:latin typeface="Calibri"/>
              </a:rPr>
              <a:t>error vs. exact &amp; reference solutions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45552" y="5074920"/>
            <a:ext cx="3502152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016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45552" y="5193792"/>
            <a:ext cx="3502152" cy="59436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/>
            <a:r>
              <a:rPr sz="3000" b="1" i="0">
                <a:solidFill>
                  <a:srgbClr val="065A82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74152" y="5806440"/>
            <a:ext cx="3044952" cy="45720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5B6B7A"/>
                </a:solidFill>
                <a:latin typeface="Calibri"/>
              </a:rPr>
              <a:t>real bug found &amp; fixed (divergence)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6473952"/>
            <a:ext cx="731520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r"/>
            <a:r>
              <a:rPr sz="1000" b="0" i="0">
                <a:solidFill>
                  <a:srgbClr val="9AA5B1"/>
                </a:solidFill>
                <a:latin typeface="Calibri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7315200" cy="109728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611880"/>
            <a:ext cx="7315200" cy="64008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2000" b="0" i="0">
                <a:solidFill>
                  <a:srgbClr val="C7D6E3"/>
                </a:solidFill>
                <a:latin typeface="Calibri"/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73952"/>
            <a:ext cx="731520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r"/>
            <a:r>
              <a:rPr sz="1000" b="0" i="0">
                <a:solidFill>
                  <a:srgbClr val="5B7A94"/>
                </a:solidFill>
                <a:latin typeface="Calibri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